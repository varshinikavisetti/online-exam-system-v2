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1"/>
  </p:notesMasterIdLst>
  <p:handoutMasterIdLst>
    <p:handoutMasterId r:id="rId22"/>
  </p:handoutMasterIdLst>
  <p:sldIdLst>
    <p:sldId id="312" r:id="rId5"/>
    <p:sldId id="304" r:id="rId6"/>
    <p:sldId id="323" r:id="rId7"/>
    <p:sldId id="324" r:id="rId8"/>
    <p:sldId id="336" r:id="rId9"/>
    <p:sldId id="325" r:id="rId10"/>
    <p:sldId id="326" r:id="rId11"/>
    <p:sldId id="328" r:id="rId12"/>
    <p:sldId id="330" r:id="rId13"/>
    <p:sldId id="332" r:id="rId14"/>
    <p:sldId id="331" r:id="rId15"/>
    <p:sldId id="333" r:id="rId16"/>
    <p:sldId id="334" r:id="rId17"/>
    <p:sldId id="335" r:id="rId18"/>
    <p:sldId id="282" r:id="rId19"/>
    <p:sldId id="297" r:id="rId20"/>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p:scale>
          <a:sx n="77" d="100"/>
          <a:sy n="77" d="100"/>
        </p:scale>
        <p:origin x="912" y="91"/>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88A5F-9761-91E7-5942-58A5355FB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5C9CE-FAB3-4F36-E88B-D654A90C1DA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8B22304-4A42-285C-B103-9B9B014B0252}"/>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511788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CEFD5-C64B-18C2-542A-F5BF5E7D4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B7F139-9573-E344-031C-3A6220DEE36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C3562BB-CEDB-35B6-9CE2-F973A331638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4757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8D77E-64C7-8BFD-3E86-A22EEDD65C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126B8-B5F6-4181-16BE-69F5096B937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DA664C4-364F-3E5D-445F-31F83C922692}"/>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556087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CB147-F8C6-79B6-A4B1-8AE0E44E03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8AD529-5C21-1249-25F4-00724B4E27D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BBB9059-3853-1362-F894-8B2BC7AC333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6014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98763-1C58-6978-AD5B-505C81F89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7915C-9896-F98B-D177-74190E9B66C7}"/>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66CFCA5-CD43-2704-175F-2D437EC2C80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004225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D1CBF-DFB5-4037-416D-74CB55CE4D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980B8-4593-8CCC-7467-F6A7FA4EE5C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34E08FE-F51F-A62C-E80F-FD841C0F504B}"/>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546526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3F187-3050-61F6-E879-E1871BEA3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A749D6-6D4C-6B6F-4E24-01DD5D25F2D5}"/>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5869080-F61E-B8DC-22F9-0788B12AA06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3378504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40589-C865-90D4-7F6E-612030936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D0E870-F825-2CB2-51DD-A6DEA70F738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BF709E9-611C-7E1D-F377-EB06B11FF91A}"/>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124279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20275-5078-4261-D749-725A3A5B0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FA6E9-3C33-7BFE-E96A-760F13C22E05}"/>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88B764B-8691-5483-4003-271935574D0B}"/>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145884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2F8CB-5AC6-DE8D-9F23-51A62D190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02409-92EB-D4A3-F48C-5EF9D28DF61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3E62CA2-8A17-7733-CF40-150E5033BF6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1672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E55A0-01D4-97D9-465A-5BA097CD08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E1F41-EA7E-0249-3544-B9C9F294D0D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1E1B7FD-0AD2-2FA3-C084-D71B9ABB7382}"/>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8262398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0E01B-F42D-1CC1-1EC8-3C7A1A675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DF4CC-E9CF-5407-573E-627A7A7CBB3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EAF5268-8CD4-F855-DF94-FF7662DEF93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4230778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1409995"/>
            <a:ext cx="6392421" cy="3831221"/>
          </a:xfrm>
        </p:spPr>
        <p:txBody>
          <a:bodyPr anchor="ctr"/>
          <a:lstStyle/>
          <a:p>
            <a:r>
              <a:rPr lang="en-IN" dirty="0"/>
              <a:t>Cloud-Based Online Examination System</a:t>
            </a:r>
            <a:br>
              <a:rPr lang="en-IN" dirty="0"/>
            </a:br>
            <a:br>
              <a:rPr lang="en-IN" dirty="0"/>
            </a:br>
            <a:r>
              <a:rPr lang="en-IN" sz="1400" dirty="0"/>
              <a:t>Presented by</a:t>
            </a:r>
            <a:br>
              <a:rPr lang="en-IN" sz="1400" dirty="0"/>
            </a:br>
            <a:r>
              <a:rPr lang="en-IN" sz="1400" dirty="0" err="1"/>
              <a:t>k.Varshini</a:t>
            </a:r>
            <a:br>
              <a:rPr lang="en-IN" sz="1400" dirty="0"/>
            </a:br>
            <a:r>
              <a:rPr lang="en-IN" sz="1400" dirty="0"/>
              <a:t>23331A1262</a:t>
            </a:r>
            <a:br>
              <a:rPr lang="en-IN" sz="1400" dirty="0"/>
            </a:br>
            <a:r>
              <a:rPr lang="en-IN" sz="1400" dirty="0"/>
              <a:t>IT-A</a:t>
            </a:r>
            <a:endParaRPr lang="en-US" sz="1400"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845574" y="310104"/>
            <a:ext cx="6583680" cy="850102"/>
          </a:xfrm>
        </p:spPr>
        <p:txBody>
          <a:bodyPr/>
          <a:lstStyle/>
          <a:p>
            <a:r>
              <a:rPr lang="en-US" sz="3200" dirty="0">
                <a:solidFill>
                  <a:schemeClr val="accent6">
                    <a:lumMod val="75000"/>
                  </a:schemeClr>
                </a:solidFill>
              </a:rPr>
              <a:t>Problem statement</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845574" y="1658179"/>
            <a:ext cx="6583680" cy="3207344"/>
          </a:xfrm>
        </p:spPr>
        <p:txBody>
          <a:bodyPr>
            <a:normAutofit/>
          </a:bodyPr>
          <a:lstStyle/>
          <a:p>
            <a:pPr>
              <a:defRPr sz="2000"/>
            </a:pPr>
            <a:r>
              <a:rPr lang="en-IN" dirty="0"/>
              <a:t>Traditional examination systems have several drawbacks:</a:t>
            </a:r>
            <a:endParaRPr lang="en-US" dirty="0"/>
          </a:p>
          <a:p>
            <a:pPr>
              <a:defRPr sz="2000"/>
            </a:pPr>
            <a:r>
              <a:rPr lang="en-US" dirty="0"/>
              <a:t>• Manual evaluation</a:t>
            </a:r>
          </a:p>
          <a:p>
            <a:pPr>
              <a:defRPr sz="2000"/>
            </a:pPr>
            <a:r>
              <a:rPr lang="en-US" dirty="0"/>
              <a:t>• Slow result processing</a:t>
            </a:r>
          </a:p>
          <a:p>
            <a:pPr>
              <a:defRPr sz="2000"/>
            </a:pPr>
            <a:r>
              <a:rPr lang="en-US" dirty="0"/>
              <a:t>• Local database only</a:t>
            </a:r>
          </a:p>
          <a:p>
            <a:pPr>
              <a:defRPr sz="2000"/>
            </a:pPr>
            <a:r>
              <a:rPr lang="en-US" dirty="0"/>
              <a:t>• Not scalable</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D24EC-3E53-3B17-CC22-2B2A8DF65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CF037A-BF6E-AA39-00BE-0721767CE580}"/>
              </a:ext>
            </a:extLst>
          </p:cNvPr>
          <p:cNvSpPr>
            <a:spLocks noGrp="1"/>
          </p:cNvSpPr>
          <p:nvPr>
            <p:ph type="title"/>
          </p:nvPr>
        </p:nvSpPr>
        <p:spPr>
          <a:xfrm>
            <a:off x="845574" y="310104"/>
            <a:ext cx="6583680" cy="850102"/>
          </a:xfrm>
        </p:spPr>
        <p:txBody>
          <a:bodyPr/>
          <a:lstStyle/>
          <a:p>
            <a:pPr>
              <a:defRPr sz="2800" b="1">
                <a:solidFill>
                  <a:srgbClr val="003366"/>
                </a:solidFill>
              </a:defRPr>
            </a:pPr>
            <a:r>
              <a:rPr lang="en-US" sz="3200" dirty="0"/>
              <a:t>Objectives</a:t>
            </a:r>
            <a:endParaRPr lang="en-IN" sz="3200" dirty="0"/>
          </a:p>
        </p:txBody>
      </p:sp>
      <p:sp>
        <p:nvSpPr>
          <p:cNvPr id="3" name="Content Placeholder 2">
            <a:extLst>
              <a:ext uri="{FF2B5EF4-FFF2-40B4-BE49-F238E27FC236}">
                <a16:creationId xmlns:a16="http://schemas.microsoft.com/office/drawing/2014/main" id="{B328D6A2-34EA-CD73-9318-43B7DB32436C}"/>
              </a:ext>
            </a:extLst>
          </p:cNvPr>
          <p:cNvSpPr>
            <a:spLocks noGrp="1"/>
          </p:cNvSpPr>
          <p:nvPr>
            <p:ph idx="1"/>
          </p:nvPr>
        </p:nvSpPr>
        <p:spPr>
          <a:xfrm>
            <a:off x="845574" y="1658179"/>
            <a:ext cx="6583680" cy="3207344"/>
          </a:xfrm>
        </p:spPr>
        <p:txBody>
          <a:bodyPr>
            <a:normAutofit/>
          </a:bodyPr>
          <a:lstStyle/>
          <a:p>
            <a:pPr>
              <a:defRPr sz="2000"/>
            </a:pPr>
            <a:r>
              <a:rPr lang="en-IN" dirty="0"/>
              <a:t>The objective of this project is to provide</a:t>
            </a:r>
            <a:endParaRPr lang="en-US" dirty="0"/>
          </a:p>
          <a:p>
            <a:pPr>
              <a:defRPr sz="2000"/>
            </a:pPr>
            <a:r>
              <a:rPr lang="en-US" dirty="0"/>
              <a:t>• Cloud-based exams</a:t>
            </a:r>
          </a:p>
          <a:p>
            <a:pPr>
              <a:defRPr sz="2000"/>
            </a:pPr>
            <a:r>
              <a:rPr lang="en-US" dirty="0"/>
              <a:t>• Secure authentication</a:t>
            </a:r>
          </a:p>
          <a:p>
            <a:pPr>
              <a:defRPr sz="2000"/>
            </a:pPr>
            <a:r>
              <a:rPr lang="en-US" dirty="0"/>
              <a:t>• Automatic evaluation</a:t>
            </a:r>
          </a:p>
          <a:p>
            <a:pPr>
              <a:defRPr sz="2000"/>
            </a:pPr>
            <a:r>
              <a:rPr lang="en-US" dirty="0"/>
              <a:t>• Centralized storage</a:t>
            </a:r>
          </a:p>
          <a:p>
            <a:pPr>
              <a:defRPr sz="2000"/>
            </a:pPr>
            <a:r>
              <a:rPr lang="en-US" dirty="0"/>
              <a:t>• Remote accessibility</a:t>
            </a:r>
          </a:p>
        </p:txBody>
      </p:sp>
      <p:sp>
        <p:nvSpPr>
          <p:cNvPr id="4" name="Slide Number Placeholder 3">
            <a:extLst>
              <a:ext uri="{FF2B5EF4-FFF2-40B4-BE49-F238E27FC236}">
                <a16:creationId xmlns:a16="http://schemas.microsoft.com/office/drawing/2014/main" id="{6B8A20A9-A6D7-F3BC-D19B-D1DE3B31EFF3}"/>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1108634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F3452-2BF7-8AB8-8AFD-861A912B78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74D45-3D35-1FD6-2571-60B0C2DC7C51}"/>
              </a:ext>
            </a:extLst>
          </p:cNvPr>
          <p:cNvSpPr>
            <a:spLocks noGrp="1"/>
          </p:cNvSpPr>
          <p:nvPr>
            <p:ph type="title"/>
          </p:nvPr>
        </p:nvSpPr>
        <p:spPr>
          <a:xfrm>
            <a:off x="845574" y="182285"/>
            <a:ext cx="6583680" cy="850102"/>
          </a:xfrm>
        </p:spPr>
        <p:txBody>
          <a:bodyPr/>
          <a:lstStyle/>
          <a:p>
            <a:pPr>
              <a:defRPr sz="2800" b="1">
                <a:solidFill>
                  <a:srgbClr val="003366"/>
                </a:solidFill>
              </a:defRPr>
            </a:pPr>
            <a:r>
              <a:rPr lang="en-IN" sz="3200" dirty="0"/>
              <a:t>Technology used</a:t>
            </a:r>
          </a:p>
        </p:txBody>
      </p:sp>
      <p:sp>
        <p:nvSpPr>
          <p:cNvPr id="3" name="Content Placeholder 2">
            <a:extLst>
              <a:ext uri="{FF2B5EF4-FFF2-40B4-BE49-F238E27FC236}">
                <a16:creationId xmlns:a16="http://schemas.microsoft.com/office/drawing/2014/main" id="{F35657C8-79D5-5095-D280-47BBBD64D79B}"/>
              </a:ext>
            </a:extLst>
          </p:cNvPr>
          <p:cNvSpPr>
            <a:spLocks noGrp="1"/>
          </p:cNvSpPr>
          <p:nvPr>
            <p:ph idx="1"/>
          </p:nvPr>
        </p:nvSpPr>
        <p:spPr>
          <a:xfrm>
            <a:off x="845574" y="1346631"/>
            <a:ext cx="6583680" cy="4906297"/>
          </a:xfrm>
        </p:spPr>
        <p:txBody>
          <a:bodyPr>
            <a:normAutofit/>
          </a:bodyPr>
          <a:lstStyle/>
          <a:p>
            <a:pPr>
              <a:defRPr sz="2000"/>
            </a:pPr>
            <a:r>
              <a:rPr lang="en-IN" b="1" dirty="0"/>
              <a:t>Frontend :</a:t>
            </a:r>
          </a:p>
          <a:p>
            <a:pPr marL="342900" indent="-342900">
              <a:buFont typeface="Arial" panose="020B0604020202020204" pitchFamily="34" charset="0"/>
              <a:buChar char="•"/>
              <a:defRPr sz="2000"/>
            </a:pPr>
            <a:r>
              <a:rPr lang="en-IN" dirty="0"/>
              <a:t>HTML5 </a:t>
            </a:r>
          </a:p>
          <a:p>
            <a:pPr marL="342900" indent="-342900">
              <a:buFont typeface="Arial" panose="020B0604020202020204" pitchFamily="34" charset="0"/>
              <a:buChar char="•"/>
              <a:defRPr sz="2000"/>
            </a:pPr>
            <a:r>
              <a:rPr lang="en-IN" dirty="0"/>
              <a:t>CSS3 </a:t>
            </a:r>
          </a:p>
          <a:p>
            <a:pPr marL="342900" indent="-342900">
              <a:buFont typeface="Arial" panose="020B0604020202020204" pitchFamily="34" charset="0"/>
              <a:buChar char="•"/>
              <a:defRPr sz="2000"/>
            </a:pPr>
            <a:r>
              <a:rPr lang="en-IN" dirty="0"/>
              <a:t>Bootstrap 5  </a:t>
            </a:r>
          </a:p>
          <a:p>
            <a:pPr marL="342900" indent="-342900">
              <a:buFont typeface="Arial" panose="020B0604020202020204" pitchFamily="34" charset="0"/>
              <a:buChar char="•"/>
              <a:defRPr sz="2000"/>
            </a:pPr>
            <a:r>
              <a:rPr lang="en-IN" dirty="0"/>
              <a:t>JavaScript</a:t>
            </a:r>
          </a:p>
          <a:p>
            <a:pPr marL="342900" indent="-342900">
              <a:buFont typeface="Arial" panose="020B0604020202020204" pitchFamily="34" charset="0"/>
              <a:buChar char="•"/>
              <a:defRPr sz="2000"/>
            </a:pPr>
            <a:r>
              <a:rPr lang="en-IN" dirty="0"/>
              <a:t>Jinja2</a:t>
            </a:r>
          </a:p>
        </p:txBody>
      </p:sp>
      <p:sp>
        <p:nvSpPr>
          <p:cNvPr id="4" name="Slide Number Placeholder 3">
            <a:extLst>
              <a:ext uri="{FF2B5EF4-FFF2-40B4-BE49-F238E27FC236}">
                <a16:creationId xmlns:a16="http://schemas.microsoft.com/office/drawing/2014/main" id="{971A1DB3-8E7F-9872-DBB6-54FB98281F5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581222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B0BD4-E7C6-D69D-E1CD-5ACC49950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5CD96-C627-6A06-B160-1733372201B4}"/>
              </a:ext>
            </a:extLst>
          </p:cNvPr>
          <p:cNvSpPr>
            <a:spLocks noGrp="1"/>
          </p:cNvSpPr>
          <p:nvPr>
            <p:ph type="title"/>
          </p:nvPr>
        </p:nvSpPr>
        <p:spPr>
          <a:xfrm>
            <a:off x="845574" y="182285"/>
            <a:ext cx="6583680" cy="850102"/>
          </a:xfrm>
        </p:spPr>
        <p:txBody>
          <a:bodyPr/>
          <a:lstStyle/>
          <a:p>
            <a:pPr>
              <a:defRPr sz="2800" b="1">
                <a:solidFill>
                  <a:srgbClr val="003366"/>
                </a:solidFill>
              </a:defRPr>
            </a:pPr>
            <a:r>
              <a:rPr lang="en-IN" sz="3200" dirty="0"/>
              <a:t>Technology used</a:t>
            </a:r>
          </a:p>
        </p:txBody>
      </p:sp>
      <p:sp>
        <p:nvSpPr>
          <p:cNvPr id="3" name="Content Placeholder 2">
            <a:extLst>
              <a:ext uri="{FF2B5EF4-FFF2-40B4-BE49-F238E27FC236}">
                <a16:creationId xmlns:a16="http://schemas.microsoft.com/office/drawing/2014/main" id="{A6556926-7208-72B2-011C-5A4AC24F1584}"/>
              </a:ext>
            </a:extLst>
          </p:cNvPr>
          <p:cNvSpPr>
            <a:spLocks noGrp="1"/>
          </p:cNvSpPr>
          <p:nvPr>
            <p:ph idx="1"/>
          </p:nvPr>
        </p:nvSpPr>
        <p:spPr>
          <a:xfrm>
            <a:off x="845574" y="1248309"/>
            <a:ext cx="6583680" cy="4906297"/>
          </a:xfrm>
        </p:spPr>
        <p:txBody>
          <a:bodyPr>
            <a:normAutofit/>
          </a:bodyPr>
          <a:lstStyle/>
          <a:p>
            <a:pPr>
              <a:defRPr sz="2000"/>
            </a:pPr>
            <a:r>
              <a:rPr lang="en-IN" b="1" dirty="0"/>
              <a:t>Backend :</a:t>
            </a:r>
          </a:p>
          <a:p>
            <a:pPr marL="342900" indent="-342900">
              <a:buFont typeface="Arial" panose="020B0604020202020204" pitchFamily="34" charset="0"/>
              <a:buChar char="•"/>
              <a:defRPr sz="2000"/>
            </a:pPr>
            <a:r>
              <a:rPr lang="en-IN" dirty="0"/>
              <a:t>Python </a:t>
            </a:r>
          </a:p>
          <a:p>
            <a:pPr marL="342900" indent="-342900">
              <a:buFont typeface="Arial" panose="020B0604020202020204" pitchFamily="34" charset="0"/>
              <a:buChar char="•"/>
              <a:defRPr sz="2000"/>
            </a:pPr>
            <a:r>
              <a:rPr lang="en-IN" dirty="0"/>
              <a:t>Python Flask </a:t>
            </a:r>
          </a:p>
          <a:p>
            <a:pPr marL="342900" indent="-342900">
              <a:buFont typeface="Arial" panose="020B0604020202020204" pitchFamily="34" charset="0"/>
              <a:buChar char="•"/>
              <a:defRPr sz="2000"/>
            </a:pPr>
            <a:r>
              <a:rPr lang="en-IN" dirty="0"/>
              <a:t>Flask-</a:t>
            </a:r>
            <a:r>
              <a:rPr lang="en-IN" dirty="0" err="1"/>
              <a:t>SQLAlchemy</a:t>
            </a:r>
            <a:r>
              <a:rPr lang="en-IN" dirty="0"/>
              <a:t>(ORM library) </a:t>
            </a:r>
          </a:p>
          <a:p>
            <a:pPr marL="342900" indent="-342900">
              <a:buFont typeface="Arial" panose="020B0604020202020204" pitchFamily="34" charset="0"/>
              <a:buChar char="•"/>
              <a:defRPr sz="2000"/>
            </a:pPr>
            <a:r>
              <a:rPr lang="en-IN" dirty="0"/>
              <a:t>Flask-Login </a:t>
            </a:r>
          </a:p>
          <a:p>
            <a:pPr marL="342900" indent="-342900">
              <a:buFont typeface="Arial" panose="020B0604020202020204" pitchFamily="34" charset="0"/>
              <a:buChar char="•"/>
              <a:defRPr sz="2000"/>
            </a:pPr>
            <a:r>
              <a:rPr lang="en-IN" dirty="0"/>
              <a:t>Flask-WTF </a:t>
            </a:r>
          </a:p>
          <a:p>
            <a:pPr marL="342900" indent="-342900">
              <a:buFont typeface="Arial" panose="020B0604020202020204" pitchFamily="34" charset="0"/>
              <a:buChar char="•"/>
              <a:defRPr sz="2000"/>
            </a:pPr>
            <a:r>
              <a:rPr lang="en-IN" dirty="0"/>
              <a:t>Flask-Limiter</a:t>
            </a:r>
          </a:p>
        </p:txBody>
      </p:sp>
      <p:sp>
        <p:nvSpPr>
          <p:cNvPr id="4" name="Slide Number Placeholder 3">
            <a:extLst>
              <a:ext uri="{FF2B5EF4-FFF2-40B4-BE49-F238E27FC236}">
                <a16:creationId xmlns:a16="http://schemas.microsoft.com/office/drawing/2014/main" id="{A0CF2D1E-5510-436E-9686-40B45729EC8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3094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4811E-3B4E-A8F0-733C-DB3637A27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0878D5-7C3A-3E10-4E48-3E6324132763}"/>
              </a:ext>
            </a:extLst>
          </p:cNvPr>
          <p:cNvSpPr>
            <a:spLocks noGrp="1"/>
          </p:cNvSpPr>
          <p:nvPr>
            <p:ph type="title"/>
          </p:nvPr>
        </p:nvSpPr>
        <p:spPr>
          <a:xfrm>
            <a:off x="845574" y="182285"/>
            <a:ext cx="6583680" cy="850102"/>
          </a:xfrm>
        </p:spPr>
        <p:txBody>
          <a:bodyPr/>
          <a:lstStyle/>
          <a:p>
            <a:pPr>
              <a:defRPr sz="2800" b="1">
                <a:solidFill>
                  <a:srgbClr val="003366"/>
                </a:solidFill>
              </a:defRPr>
            </a:pPr>
            <a:r>
              <a:rPr lang="en-IN" sz="3200" dirty="0"/>
              <a:t>Technology used</a:t>
            </a:r>
          </a:p>
        </p:txBody>
      </p:sp>
      <p:sp>
        <p:nvSpPr>
          <p:cNvPr id="3" name="Content Placeholder 2">
            <a:extLst>
              <a:ext uri="{FF2B5EF4-FFF2-40B4-BE49-F238E27FC236}">
                <a16:creationId xmlns:a16="http://schemas.microsoft.com/office/drawing/2014/main" id="{D14A116B-38E2-26E0-6949-C904E4F7DF6D}"/>
              </a:ext>
            </a:extLst>
          </p:cNvPr>
          <p:cNvSpPr>
            <a:spLocks noGrp="1"/>
          </p:cNvSpPr>
          <p:nvPr>
            <p:ph idx="1"/>
          </p:nvPr>
        </p:nvSpPr>
        <p:spPr>
          <a:xfrm>
            <a:off x="845574" y="1209368"/>
            <a:ext cx="6583680" cy="4906297"/>
          </a:xfrm>
        </p:spPr>
        <p:txBody>
          <a:bodyPr>
            <a:normAutofit/>
          </a:bodyPr>
          <a:lstStyle/>
          <a:p>
            <a:pPr>
              <a:defRPr sz="2000"/>
            </a:pPr>
            <a:r>
              <a:rPr lang="en-IN" b="1" dirty="0"/>
              <a:t>Database </a:t>
            </a:r>
          </a:p>
          <a:p>
            <a:pPr marL="342900" indent="-342900">
              <a:buFont typeface="Arial" panose="020B0604020202020204" pitchFamily="34" charset="0"/>
              <a:buChar char="•"/>
              <a:defRPr sz="2000"/>
            </a:pPr>
            <a:r>
              <a:rPr lang="en-IN" dirty="0" err="1"/>
              <a:t>TiDB</a:t>
            </a:r>
            <a:r>
              <a:rPr lang="en-IN" dirty="0"/>
              <a:t> Cloud</a:t>
            </a:r>
          </a:p>
          <a:p>
            <a:pPr>
              <a:defRPr sz="2000"/>
            </a:pPr>
            <a:r>
              <a:rPr lang="en-IN" b="1" dirty="0"/>
              <a:t>ORM </a:t>
            </a:r>
          </a:p>
          <a:p>
            <a:pPr marL="342900" indent="-342900">
              <a:buFont typeface="Arial" panose="020B0604020202020204" pitchFamily="34" charset="0"/>
              <a:buChar char="•"/>
              <a:defRPr sz="2000"/>
            </a:pPr>
            <a:r>
              <a:rPr lang="en-IN" dirty="0"/>
              <a:t>Flask </a:t>
            </a:r>
            <a:r>
              <a:rPr lang="en-IN" dirty="0" err="1"/>
              <a:t>SQLAlchemy</a:t>
            </a:r>
            <a:endParaRPr lang="en-IN" dirty="0"/>
          </a:p>
          <a:p>
            <a:pPr>
              <a:defRPr sz="2000"/>
            </a:pPr>
            <a:r>
              <a:rPr lang="en-IN" b="1" dirty="0"/>
              <a:t>Authentication </a:t>
            </a:r>
          </a:p>
          <a:p>
            <a:pPr marL="342900" indent="-342900">
              <a:buFont typeface="Arial" panose="020B0604020202020204" pitchFamily="34" charset="0"/>
              <a:buChar char="•"/>
              <a:defRPr sz="2000"/>
            </a:pPr>
            <a:r>
              <a:rPr lang="en-IN" dirty="0"/>
              <a:t>Flask Login </a:t>
            </a:r>
          </a:p>
          <a:p>
            <a:pPr>
              <a:defRPr sz="2000"/>
            </a:pPr>
            <a:r>
              <a:rPr lang="en-IN" dirty="0"/>
              <a:t>Purpose: </a:t>
            </a:r>
          </a:p>
          <a:p>
            <a:pPr marL="342900" indent="-342900">
              <a:buFont typeface="Arial" panose="020B0604020202020204" pitchFamily="34" charset="0"/>
              <a:buChar char="•"/>
              <a:defRPr sz="2000"/>
            </a:pPr>
            <a:r>
              <a:rPr lang="en-IN" dirty="0"/>
              <a:t>Secure login </a:t>
            </a:r>
          </a:p>
          <a:p>
            <a:pPr marL="342900" indent="-342900">
              <a:buFont typeface="Arial" panose="020B0604020202020204" pitchFamily="34" charset="0"/>
              <a:buChar char="•"/>
              <a:defRPr sz="2000"/>
            </a:pPr>
            <a:r>
              <a:rPr lang="en-IN" dirty="0"/>
              <a:t>Session management </a:t>
            </a:r>
          </a:p>
          <a:p>
            <a:pPr marL="342900" indent="-342900">
              <a:buFont typeface="Arial" panose="020B0604020202020204" pitchFamily="34" charset="0"/>
              <a:buChar char="•"/>
              <a:defRPr sz="2000"/>
            </a:pPr>
            <a:r>
              <a:rPr lang="en-IN" dirty="0"/>
              <a:t>User authentication</a:t>
            </a:r>
            <a:endParaRPr lang="en-US" dirty="0"/>
          </a:p>
        </p:txBody>
      </p:sp>
      <p:sp>
        <p:nvSpPr>
          <p:cNvPr id="4" name="Slide Number Placeholder 3">
            <a:extLst>
              <a:ext uri="{FF2B5EF4-FFF2-40B4-BE49-F238E27FC236}">
                <a16:creationId xmlns:a16="http://schemas.microsoft.com/office/drawing/2014/main" id="{B1987608-FCE0-443E-CA9E-F06235608732}"/>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339543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BC6A9-50E2-E7AC-5042-1F17C8DA0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6EB0C5-F38E-8456-463F-9D660A649C4F}"/>
              </a:ext>
            </a:extLst>
          </p:cNvPr>
          <p:cNvSpPr>
            <a:spLocks noGrp="1"/>
          </p:cNvSpPr>
          <p:nvPr>
            <p:ph type="title"/>
          </p:nvPr>
        </p:nvSpPr>
        <p:spPr>
          <a:xfrm>
            <a:off x="845574" y="182285"/>
            <a:ext cx="6583680" cy="850102"/>
          </a:xfrm>
        </p:spPr>
        <p:txBody>
          <a:bodyPr/>
          <a:lstStyle/>
          <a:p>
            <a:pPr>
              <a:defRPr sz="2800" b="1">
                <a:solidFill>
                  <a:srgbClr val="003366"/>
                </a:solidFill>
              </a:defRPr>
            </a:pPr>
            <a:r>
              <a:rPr lang="en-IN" sz="3200" dirty="0"/>
              <a:t>Technology used</a:t>
            </a:r>
          </a:p>
        </p:txBody>
      </p:sp>
      <p:sp>
        <p:nvSpPr>
          <p:cNvPr id="3" name="Content Placeholder 2">
            <a:extLst>
              <a:ext uri="{FF2B5EF4-FFF2-40B4-BE49-F238E27FC236}">
                <a16:creationId xmlns:a16="http://schemas.microsoft.com/office/drawing/2014/main" id="{F7B3B47C-CDB4-97C5-5FA6-7DF514DE1439}"/>
              </a:ext>
            </a:extLst>
          </p:cNvPr>
          <p:cNvSpPr>
            <a:spLocks noGrp="1"/>
          </p:cNvSpPr>
          <p:nvPr>
            <p:ph idx="1"/>
          </p:nvPr>
        </p:nvSpPr>
        <p:spPr>
          <a:xfrm>
            <a:off x="845574" y="1209368"/>
            <a:ext cx="6583680" cy="4906297"/>
          </a:xfrm>
        </p:spPr>
        <p:txBody>
          <a:bodyPr>
            <a:normAutofit fontScale="92500" lnSpcReduction="10000"/>
          </a:bodyPr>
          <a:lstStyle/>
          <a:p>
            <a:pPr>
              <a:defRPr sz="2000"/>
            </a:pPr>
            <a:r>
              <a:rPr lang="en-IN" b="1" dirty="0"/>
              <a:t>Database Driver </a:t>
            </a:r>
          </a:p>
          <a:p>
            <a:pPr marL="342900" indent="-342900">
              <a:buFont typeface="Arial" panose="020B0604020202020204" pitchFamily="34" charset="0"/>
              <a:buChar char="•"/>
              <a:defRPr sz="2000"/>
            </a:pPr>
            <a:r>
              <a:rPr lang="en-IN" dirty="0" err="1"/>
              <a:t>PyMySQL</a:t>
            </a:r>
            <a:r>
              <a:rPr lang="en-IN" dirty="0"/>
              <a:t> </a:t>
            </a:r>
          </a:p>
          <a:p>
            <a:pPr>
              <a:defRPr sz="2000"/>
            </a:pPr>
            <a:r>
              <a:rPr lang="en-IN" dirty="0"/>
              <a:t>Purpose: </a:t>
            </a:r>
          </a:p>
          <a:p>
            <a:pPr>
              <a:defRPr sz="2000"/>
            </a:pPr>
            <a:r>
              <a:rPr lang="en-IN" dirty="0"/>
              <a:t>Connects Flask to </a:t>
            </a:r>
            <a:r>
              <a:rPr lang="en-IN" dirty="0" err="1"/>
              <a:t>TiDB</a:t>
            </a:r>
            <a:r>
              <a:rPr lang="en-IN" dirty="0"/>
              <a:t> Cloud.</a:t>
            </a:r>
          </a:p>
          <a:p>
            <a:r>
              <a:rPr lang="en-IN" sz="2100" b="1" dirty="0"/>
              <a:t>AI</a:t>
            </a:r>
            <a:endParaRPr lang="en-IN" sz="2100" dirty="0"/>
          </a:p>
          <a:p>
            <a:pPr marL="342900" indent="-342900">
              <a:buFont typeface="Arial" panose="020B0604020202020204" pitchFamily="34" charset="0"/>
              <a:buChar char="•"/>
            </a:pPr>
            <a:r>
              <a:rPr lang="en-IN" sz="2100" dirty="0"/>
              <a:t>TensorFlow.js </a:t>
            </a:r>
          </a:p>
          <a:p>
            <a:pPr marL="342900" indent="-342900">
              <a:buFont typeface="Arial" panose="020B0604020202020204" pitchFamily="34" charset="0"/>
              <a:buChar char="•"/>
            </a:pPr>
            <a:r>
              <a:rPr lang="en-IN" sz="2100" dirty="0" err="1"/>
              <a:t>BlazeFace</a:t>
            </a:r>
            <a:r>
              <a:rPr lang="en-IN" sz="2100" dirty="0"/>
              <a:t> </a:t>
            </a:r>
          </a:p>
          <a:p>
            <a:pPr marL="342900" indent="-342900">
              <a:buFont typeface="Arial" panose="020B0604020202020204" pitchFamily="34" charset="0"/>
              <a:buChar char="•"/>
            </a:pPr>
            <a:r>
              <a:rPr lang="en-IN" sz="2100" dirty="0"/>
              <a:t>COCO-SSD </a:t>
            </a:r>
          </a:p>
          <a:p>
            <a:pPr>
              <a:defRPr sz="2000"/>
            </a:pPr>
            <a:r>
              <a:rPr lang="en-IN" b="1" dirty="0"/>
              <a:t>Deployment </a:t>
            </a:r>
          </a:p>
          <a:p>
            <a:pPr marL="342900" indent="-342900">
              <a:buFont typeface="Arial" panose="020B0604020202020204" pitchFamily="34" charset="0"/>
              <a:buChar char="•"/>
              <a:defRPr sz="2000"/>
            </a:pPr>
            <a:r>
              <a:rPr lang="en-IN" dirty="0"/>
              <a:t>Render </a:t>
            </a:r>
          </a:p>
          <a:p>
            <a:pPr>
              <a:defRPr sz="2000"/>
            </a:pPr>
            <a:r>
              <a:rPr lang="en-IN" dirty="0"/>
              <a:t>Purpose: </a:t>
            </a:r>
          </a:p>
          <a:p>
            <a:pPr>
              <a:defRPr sz="2000"/>
            </a:pPr>
            <a:r>
              <a:rPr lang="en-IN" dirty="0"/>
              <a:t>Hosts the Flask application online.</a:t>
            </a:r>
            <a:endParaRPr lang="en-US" dirty="0"/>
          </a:p>
        </p:txBody>
      </p:sp>
      <p:sp>
        <p:nvSpPr>
          <p:cNvPr id="4" name="Slide Number Placeholder 3">
            <a:extLst>
              <a:ext uri="{FF2B5EF4-FFF2-40B4-BE49-F238E27FC236}">
                <a16:creationId xmlns:a16="http://schemas.microsoft.com/office/drawing/2014/main" id="{B334ED06-3759-9BBF-6EDB-E82406C614FD}"/>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626201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D5D46-9A91-F7AC-E621-A5BF19A627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3F5F6-A39D-3610-A214-ACE543DDC1D2}"/>
              </a:ext>
            </a:extLst>
          </p:cNvPr>
          <p:cNvSpPr>
            <a:spLocks noGrp="1"/>
          </p:cNvSpPr>
          <p:nvPr>
            <p:ph type="title"/>
          </p:nvPr>
        </p:nvSpPr>
        <p:spPr>
          <a:xfrm>
            <a:off x="845574" y="182285"/>
            <a:ext cx="6583680" cy="850102"/>
          </a:xfrm>
        </p:spPr>
        <p:txBody>
          <a:bodyPr/>
          <a:lstStyle/>
          <a:p>
            <a:pPr>
              <a:defRPr sz="2800" b="1">
                <a:solidFill>
                  <a:srgbClr val="003366"/>
                </a:solidFill>
              </a:defRPr>
            </a:pPr>
            <a:r>
              <a:rPr lang="en-IN" sz="3200" dirty="0"/>
              <a:t>Workflow</a:t>
            </a:r>
          </a:p>
        </p:txBody>
      </p:sp>
      <p:sp>
        <p:nvSpPr>
          <p:cNvPr id="3" name="Content Placeholder 2">
            <a:extLst>
              <a:ext uri="{FF2B5EF4-FFF2-40B4-BE49-F238E27FC236}">
                <a16:creationId xmlns:a16="http://schemas.microsoft.com/office/drawing/2014/main" id="{8517B67D-8689-E6CE-7262-4F94D6D53FD3}"/>
              </a:ext>
            </a:extLst>
          </p:cNvPr>
          <p:cNvSpPr>
            <a:spLocks noGrp="1"/>
          </p:cNvSpPr>
          <p:nvPr>
            <p:ph idx="1"/>
          </p:nvPr>
        </p:nvSpPr>
        <p:spPr>
          <a:xfrm>
            <a:off x="845574" y="1435510"/>
            <a:ext cx="6583680" cy="4906297"/>
          </a:xfrm>
        </p:spPr>
        <p:txBody>
          <a:bodyPr>
            <a:normAutofit/>
          </a:bodyPr>
          <a:lstStyle/>
          <a:p>
            <a:pPr>
              <a:defRPr sz="2000"/>
            </a:pPr>
            <a:r>
              <a:rPr lang="en-IN" b="1" dirty="0"/>
              <a:t>Step 1 — User opens the website : </a:t>
            </a:r>
          </a:p>
          <a:p>
            <a:pPr>
              <a:defRPr sz="2000"/>
            </a:pPr>
            <a:r>
              <a:rPr lang="en-IN" dirty="0"/>
              <a:t>Browser → Home Page</a:t>
            </a:r>
          </a:p>
          <a:p>
            <a:pPr>
              <a:defRPr sz="2000"/>
            </a:pPr>
            <a:endParaRPr lang="en-IN" dirty="0"/>
          </a:p>
          <a:p>
            <a:pPr>
              <a:defRPr sz="2000"/>
            </a:pPr>
            <a:r>
              <a:rPr lang="en-IN" b="1" dirty="0"/>
              <a:t>Step 2 — User registers : </a:t>
            </a:r>
          </a:p>
          <a:p>
            <a:pPr>
              <a:defRPr sz="2000"/>
            </a:pPr>
            <a:r>
              <a:rPr lang="en-IN" dirty="0"/>
              <a:t>User → Register Form → </a:t>
            </a:r>
            <a:r>
              <a:rPr lang="en-IN" dirty="0" err="1"/>
              <a:t>TiDB</a:t>
            </a:r>
            <a:r>
              <a:rPr lang="en-IN" dirty="0"/>
              <a:t> Cloud</a:t>
            </a:r>
          </a:p>
          <a:p>
            <a:pPr>
              <a:defRPr sz="2000"/>
            </a:pPr>
            <a:endParaRPr lang="en-IN" dirty="0"/>
          </a:p>
          <a:p>
            <a:pPr>
              <a:defRPr sz="2000"/>
            </a:pPr>
            <a:r>
              <a:rPr lang="en-IN" b="1" dirty="0"/>
              <a:t>Step 3 — User logs in </a:t>
            </a:r>
          </a:p>
          <a:p>
            <a:pPr>
              <a:defRPr sz="2000"/>
            </a:pPr>
            <a:r>
              <a:rPr lang="en-IN" dirty="0"/>
              <a:t>Flask checks Email and Password against the cloud database. If correct, a session is created.</a:t>
            </a:r>
          </a:p>
        </p:txBody>
      </p:sp>
      <p:sp>
        <p:nvSpPr>
          <p:cNvPr id="4" name="Slide Number Placeholder 3">
            <a:extLst>
              <a:ext uri="{FF2B5EF4-FFF2-40B4-BE49-F238E27FC236}">
                <a16:creationId xmlns:a16="http://schemas.microsoft.com/office/drawing/2014/main" id="{73A2FB9B-F27B-8D95-A4F2-480EB70133AD}"/>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2476995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8346D-DB21-B482-040F-C2C5D66084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E932A-0A8A-8300-2C45-7EE6DD74C11B}"/>
              </a:ext>
            </a:extLst>
          </p:cNvPr>
          <p:cNvSpPr>
            <a:spLocks noGrp="1"/>
          </p:cNvSpPr>
          <p:nvPr>
            <p:ph type="title"/>
          </p:nvPr>
        </p:nvSpPr>
        <p:spPr>
          <a:xfrm>
            <a:off x="845574" y="182285"/>
            <a:ext cx="6583680" cy="850102"/>
          </a:xfrm>
        </p:spPr>
        <p:txBody>
          <a:bodyPr/>
          <a:lstStyle/>
          <a:p>
            <a:pPr>
              <a:defRPr sz="2800" b="1">
                <a:solidFill>
                  <a:srgbClr val="003366"/>
                </a:solidFill>
              </a:defRPr>
            </a:pPr>
            <a:r>
              <a:rPr lang="en-IN" sz="3200" dirty="0"/>
              <a:t>Workflow</a:t>
            </a:r>
          </a:p>
        </p:txBody>
      </p:sp>
      <p:sp>
        <p:nvSpPr>
          <p:cNvPr id="3" name="Content Placeholder 2">
            <a:extLst>
              <a:ext uri="{FF2B5EF4-FFF2-40B4-BE49-F238E27FC236}">
                <a16:creationId xmlns:a16="http://schemas.microsoft.com/office/drawing/2014/main" id="{D34061AF-2C4D-0ADE-D62B-94CC9FF631DA}"/>
              </a:ext>
            </a:extLst>
          </p:cNvPr>
          <p:cNvSpPr>
            <a:spLocks noGrp="1"/>
          </p:cNvSpPr>
          <p:nvPr>
            <p:ph idx="1"/>
          </p:nvPr>
        </p:nvSpPr>
        <p:spPr>
          <a:xfrm>
            <a:off x="845574" y="1435510"/>
            <a:ext cx="6583680" cy="4906297"/>
          </a:xfrm>
        </p:spPr>
        <p:txBody>
          <a:bodyPr>
            <a:normAutofit/>
          </a:bodyPr>
          <a:lstStyle/>
          <a:p>
            <a:pPr>
              <a:defRPr sz="2000"/>
            </a:pPr>
            <a:r>
              <a:rPr lang="en-IN" b="1" dirty="0"/>
              <a:t>Step 4 — Admin Dashboard </a:t>
            </a:r>
          </a:p>
          <a:p>
            <a:pPr>
              <a:defRPr sz="2000"/>
            </a:pPr>
            <a:r>
              <a:rPr lang="en-IN" dirty="0"/>
              <a:t>Admin can:</a:t>
            </a:r>
          </a:p>
          <a:p>
            <a:pPr marL="285750" indent="-285750">
              <a:buFont typeface="Arial" panose="020B0604020202020204" pitchFamily="34" charset="0"/>
              <a:buChar char="•"/>
              <a:defRPr sz="2000"/>
            </a:pPr>
            <a:r>
              <a:rPr lang="en-IN" sz="1800" dirty="0"/>
              <a:t>Create Exam </a:t>
            </a:r>
          </a:p>
          <a:p>
            <a:pPr marL="285750" indent="-285750">
              <a:buFont typeface="Arial" panose="020B0604020202020204" pitchFamily="34" charset="0"/>
              <a:buChar char="•"/>
              <a:defRPr sz="2000"/>
            </a:pPr>
            <a:r>
              <a:rPr lang="en-IN" sz="1800" dirty="0"/>
              <a:t>Add Questions </a:t>
            </a:r>
          </a:p>
          <a:p>
            <a:pPr marL="285750" indent="-285750">
              <a:buFont typeface="Arial" panose="020B0604020202020204" pitchFamily="34" charset="0"/>
              <a:buChar char="•"/>
              <a:defRPr sz="2000"/>
            </a:pPr>
            <a:r>
              <a:rPr lang="en-IN" sz="1800" dirty="0"/>
              <a:t>View Results </a:t>
            </a:r>
          </a:p>
          <a:p>
            <a:pPr marL="285750" indent="-285750">
              <a:buFont typeface="Arial" panose="020B0604020202020204" pitchFamily="34" charset="0"/>
              <a:buChar char="•"/>
              <a:defRPr sz="2000"/>
            </a:pPr>
            <a:r>
              <a:rPr lang="en-IN" sz="1800" dirty="0"/>
              <a:t>Manage Analytics</a:t>
            </a:r>
          </a:p>
          <a:p>
            <a:pPr>
              <a:defRPr sz="2000"/>
            </a:pPr>
            <a:r>
              <a:rPr lang="en-IN" b="1" dirty="0"/>
              <a:t>Step 5 — Student Dashboard </a:t>
            </a:r>
          </a:p>
          <a:p>
            <a:pPr>
              <a:defRPr sz="2000"/>
            </a:pPr>
            <a:r>
              <a:rPr lang="en-IN" dirty="0"/>
              <a:t>Student:</a:t>
            </a:r>
          </a:p>
          <a:p>
            <a:pPr marL="285750" indent="-285750">
              <a:buFont typeface="Arial" panose="020B0604020202020204" pitchFamily="34" charset="0"/>
              <a:buChar char="•"/>
              <a:defRPr sz="2000"/>
            </a:pPr>
            <a:r>
              <a:rPr lang="en-IN" sz="1800" dirty="0"/>
              <a:t>Views available (published) exams </a:t>
            </a:r>
          </a:p>
          <a:p>
            <a:pPr marL="285750" indent="-285750">
              <a:buFont typeface="Arial" panose="020B0604020202020204" pitchFamily="34" charset="0"/>
              <a:buChar char="•"/>
              <a:defRPr sz="2000"/>
            </a:pPr>
            <a:r>
              <a:rPr lang="en-IN" sz="1800" dirty="0"/>
              <a:t>Starts exam</a:t>
            </a:r>
          </a:p>
        </p:txBody>
      </p:sp>
      <p:sp>
        <p:nvSpPr>
          <p:cNvPr id="4" name="Slide Number Placeholder 3">
            <a:extLst>
              <a:ext uri="{FF2B5EF4-FFF2-40B4-BE49-F238E27FC236}">
                <a16:creationId xmlns:a16="http://schemas.microsoft.com/office/drawing/2014/main" id="{782C5720-C52D-30D7-2700-F724A949E53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2344205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503B4-12C0-7E53-E61D-A7FD195640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D07B5-8CEB-8B64-BB60-B63AEF16B8D7}"/>
              </a:ext>
            </a:extLst>
          </p:cNvPr>
          <p:cNvSpPr>
            <a:spLocks noGrp="1"/>
          </p:cNvSpPr>
          <p:nvPr>
            <p:ph type="title"/>
          </p:nvPr>
        </p:nvSpPr>
        <p:spPr>
          <a:xfrm>
            <a:off x="845574" y="182285"/>
            <a:ext cx="6583680" cy="850102"/>
          </a:xfrm>
        </p:spPr>
        <p:txBody>
          <a:bodyPr/>
          <a:lstStyle/>
          <a:p>
            <a:pPr>
              <a:defRPr sz="2800" b="1">
                <a:solidFill>
                  <a:srgbClr val="003366"/>
                </a:solidFill>
              </a:defRPr>
            </a:pPr>
            <a:r>
              <a:rPr lang="en-IN" sz="3200" dirty="0"/>
              <a:t>Workflow</a:t>
            </a:r>
          </a:p>
        </p:txBody>
      </p:sp>
      <p:sp>
        <p:nvSpPr>
          <p:cNvPr id="3" name="Content Placeholder 2">
            <a:extLst>
              <a:ext uri="{FF2B5EF4-FFF2-40B4-BE49-F238E27FC236}">
                <a16:creationId xmlns:a16="http://schemas.microsoft.com/office/drawing/2014/main" id="{847FD44D-018A-51EB-7546-D51D0032B8C6}"/>
              </a:ext>
            </a:extLst>
          </p:cNvPr>
          <p:cNvSpPr>
            <a:spLocks noGrp="1"/>
          </p:cNvSpPr>
          <p:nvPr>
            <p:ph idx="1"/>
          </p:nvPr>
        </p:nvSpPr>
        <p:spPr>
          <a:xfrm>
            <a:off x="845574" y="1219201"/>
            <a:ext cx="6583680" cy="4906297"/>
          </a:xfrm>
        </p:spPr>
        <p:txBody>
          <a:bodyPr>
            <a:normAutofit/>
          </a:bodyPr>
          <a:lstStyle/>
          <a:p>
            <a:pPr>
              <a:defRPr sz="2000"/>
            </a:pPr>
            <a:r>
              <a:rPr lang="en-IN" b="1" dirty="0"/>
              <a:t>Step 6 — Exam Starts </a:t>
            </a:r>
          </a:p>
          <a:p>
            <a:pPr>
              <a:defRPr sz="2000"/>
            </a:pPr>
            <a:r>
              <a:rPr lang="en-IN" dirty="0"/>
              <a:t>Features include:</a:t>
            </a:r>
          </a:p>
          <a:p>
            <a:pPr marL="285750" indent="-285750">
              <a:buFont typeface="Arial" panose="020B0604020202020204" pitchFamily="34" charset="0"/>
              <a:buChar char="•"/>
              <a:defRPr sz="2000"/>
            </a:pPr>
            <a:r>
              <a:rPr lang="en-IN" sz="1800" dirty="0"/>
              <a:t>Timer </a:t>
            </a:r>
          </a:p>
          <a:p>
            <a:pPr marL="285750" indent="-285750">
              <a:buFont typeface="Arial" panose="020B0604020202020204" pitchFamily="34" charset="0"/>
              <a:buChar char="•"/>
              <a:defRPr sz="2000"/>
            </a:pPr>
            <a:r>
              <a:rPr lang="en-IN" sz="1800" dirty="0"/>
              <a:t>Auto submission </a:t>
            </a:r>
          </a:p>
          <a:p>
            <a:pPr marL="285750" indent="-285750">
              <a:buFont typeface="Arial" panose="020B0604020202020204" pitchFamily="34" charset="0"/>
              <a:buChar char="•"/>
              <a:defRPr sz="2000"/>
            </a:pPr>
            <a:r>
              <a:rPr lang="en-IN" sz="1800" dirty="0"/>
              <a:t>Tab switching detection </a:t>
            </a:r>
          </a:p>
          <a:p>
            <a:pPr marL="285750" indent="-285750">
              <a:buFont typeface="Arial" panose="020B0604020202020204" pitchFamily="34" charset="0"/>
              <a:buChar char="•"/>
              <a:defRPr sz="2000"/>
            </a:pPr>
            <a:r>
              <a:rPr lang="en-IN" sz="1800" dirty="0"/>
              <a:t>Question and option shuffling (if enabled by admin)</a:t>
            </a:r>
          </a:p>
          <a:p>
            <a:pPr>
              <a:defRPr sz="2000"/>
            </a:pPr>
            <a:r>
              <a:rPr lang="en-IN" b="1" dirty="0"/>
              <a:t>Step 7 — Evaluation </a:t>
            </a:r>
          </a:p>
          <a:p>
            <a:pPr>
              <a:defRPr sz="2000"/>
            </a:pPr>
            <a:r>
              <a:rPr lang="en-IN" dirty="0"/>
              <a:t>When a student submits, Flask calculates the score (applying negative marking if enabled), percentage, and pass/fail status, then stores the result and shows it instantly.</a:t>
            </a:r>
            <a:endParaRPr lang="en-IN" sz="1800" dirty="0"/>
          </a:p>
        </p:txBody>
      </p:sp>
      <p:sp>
        <p:nvSpPr>
          <p:cNvPr id="4" name="Slide Number Placeholder 3">
            <a:extLst>
              <a:ext uri="{FF2B5EF4-FFF2-40B4-BE49-F238E27FC236}">
                <a16:creationId xmlns:a16="http://schemas.microsoft.com/office/drawing/2014/main" id="{21BC65FF-F7F4-A40B-D487-25ADB1E09DA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3743703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74A27-F1AE-4419-A784-251290245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6671E-E463-5A17-704C-D7EDCCC7EA4E}"/>
              </a:ext>
            </a:extLst>
          </p:cNvPr>
          <p:cNvSpPr>
            <a:spLocks noGrp="1"/>
          </p:cNvSpPr>
          <p:nvPr>
            <p:ph type="title"/>
          </p:nvPr>
        </p:nvSpPr>
        <p:spPr>
          <a:xfrm>
            <a:off x="845574" y="182285"/>
            <a:ext cx="6583680" cy="850102"/>
          </a:xfrm>
        </p:spPr>
        <p:txBody>
          <a:bodyPr/>
          <a:lstStyle/>
          <a:p>
            <a:pPr>
              <a:defRPr sz="2800" b="1">
                <a:solidFill>
                  <a:srgbClr val="003366"/>
                </a:solidFill>
              </a:defRPr>
            </a:pPr>
            <a:r>
              <a:rPr lang="en-IN" sz="3200" dirty="0"/>
              <a:t>Database</a:t>
            </a:r>
          </a:p>
        </p:txBody>
      </p:sp>
      <p:sp>
        <p:nvSpPr>
          <p:cNvPr id="3" name="Content Placeholder 2">
            <a:extLst>
              <a:ext uri="{FF2B5EF4-FFF2-40B4-BE49-F238E27FC236}">
                <a16:creationId xmlns:a16="http://schemas.microsoft.com/office/drawing/2014/main" id="{C479B720-0D32-43AE-615D-49CAB58E3DC5}"/>
              </a:ext>
            </a:extLst>
          </p:cNvPr>
          <p:cNvSpPr>
            <a:spLocks noGrp="1"/>
          </p:cNvSpPr>
          <p:nvPr>
            <p:ph idx="1"/>
          </p:nvPr>
        </p:nvSpPr>
        <p:spPr>
          <a:xfrm>
            <a:off x="845573" y="1435510"/>
            <a:ext cx="10166555" cy="4906297"/>
          </a:xfrm>
        </p:spPr>
        <p:txBody>
          <a:bodyPr>
            <a:normAutofit/>
          </a:bodyPr>
          <a:lstStyle/>
          <a:p>
            <a:pPr marL="342900" indent="-342900">
              <a:lnSpc>
                <a:spcPct val="200000"/>
              </a:lnSpc>
              <a:buFont typeface="Wingdings" panose="05000000000000000000" pitchFamily="2" charset="2"/>
              <a:buChar char="§"/>
              <a:defRPr sz="2000"/>
            </a:pPr>
            <a:r>
              <a:rPr lang="en-US" dirty="0"/>
              <a:t>Users(</a:t>
            </a:r>
            <a:r>
              <a:rPr lang="en-IN" sz="1600" dirty="0"/>
              <a:t>id, name, email, </a:t>
            </a:r>
            <a:r>
              <a:rPr lang="en-IN" sz="1600" dirty="0" err="1"/>
              <a:t>password_hash</a:t>
            </a:r>
            <a:r>
              <a:rPr lang="en-IN" sz="1600" dirty="0"/>
              <a:t>, role, </a:t>
            </a:r>
            <a:r>
              <a:rPr lang="en-IN" sz="1600" dirty="0" err="1"/>
              <a:t>created_at</a:t>
            </a:r>
            <a:r>
              <a:rPr lang="en-IN" dirty="0"/>
              <a:t>)</a:t>
            </a:r>
            <a:endParaRPr lang="en-US" dirty="0"/>
          </a:p>
          <a:p>
            <a:pPr marL="342900" indent="-342900">
              <a:lnSpc>
                <a:spcPct val="200000"/>
              </a:lnSpc>
              <a:buFont typeface="Wingdings" panose="05000000000000000000" pitchFamily="2" charset="2"/>
              <a:buChar char="§"/>
              <a:defRPr sz="2000"/>
            </a:pPr>
            <a:r>
              <a:rPr lang="en-US" dirty="0"/>
              <a:t>Exams(</a:t>
            </a:r>
            <a:r>
              <a:rPr lang="en-IN" sz="1600" dirty="0"/>
              <a:t>id, title, subject, duration, </a:t>
            </a:r>
            <a:r>
              <a:rPr lang="en-IN" sz="1600" dirty="0" err="1"/>
              <a:t>total_marks</a:t>
            </a:r>
            <a:r>
              <a:rPr lang="en-IN" sz="1600" dirty="0"/>
              <a:t>, </a:t>
            </a:r>
            <a:r>
              <a:rPr lang="en-IN" sz="1600" dirty="0" err="1"/>
              <a:t>pass_percentage</a:t>
            </a:r>
            <a:r>
              <a:rPr lang="en-IN" sz="1600" dirty="0"/>
              <a:t>, </a:t>
            </a:r>
            <a:r>
              <a:rPr lang="en-IN" sz="1600" dirty="0" err="1"/>
              <a:t>created_at</a:t>
            </a:r>
            <a:r>
              <a:rPr lang="en-IN" sz="1600" dirty="0"/>
              <a:t>, </a:t>
            </a:r>
            <a:r>
              <a:rPr lang="en-IN" sz="1600" dirty="0" err="1"/>
              <a:t>negative_marking_enabled</a:t>
            </a:r>
            <a:r>
              <a:rPr lang="en-IN" sz="1600" dirty="0"/>
              <a:t>, </a:t>
            </a:r>
            <a:r>
              <a:rPr lang="en-IN" sz="1600" dirty="0" err="1"/>
              <a:t>negative_marks_value</a:t>
            </a:r>
            <a:r>
              <a:rPr lang="en-IN" sz="1600" dirty="0"/>
              <a:t>, </a:t>
            </a:r>
            <a:r>
              <a:rPr lang="en-IN" sz="1600" dirty="0" err="1"/>
              <a:t>shuffle_questions</a:t>
            </a:r>
            <a:r>
              <a:rPr lang="en-IN" sz="1600" dirty="0"/>
              <a:t>, </a:t>
            </a:r>
            <a:r>
              <a:rPr lang="en-IN" sz="1600" dirty="0" err="1"/>
              <a:t>shuffle_options</a:t>
            </a:r>
            <a:r>
              <a:rPr lang="en-IN" sz="1600" dirty="0"/>
              <a:t>, </a:t>
            </a:r>
            <a:r>
              <a:rPr lang="en-IN" sz="1600" dirty="0" err="1"/>
              <a:t>max_attempts</a:t>
            </a:r>
            <a:r>
              <a:rPr lang="en-IN" sz="1600" dirty="0"/>
              <a:t>, </a:t>
            </a:r>
            <a:r>
              <a:rPr lang="en-IN" sz="1600" dirty="0" err="1"/>
              <a:t>show_results</a:t>
            </a:r>
            <a:r>
              <a:rPr lang="en-IN" sz="1600" dirty="0"/>
              <a:t>, </a:t>
            </a:r>
            <a:r>
              <a:rPr lang="en-IN" sz="1600" dirty="0" err="1"/>
              <a:t>is_published</a:t>
            </a:r>
            <a:r>
              <a:rPr lang="en-IN" sz="1500" dirty="0"/>
              <a:t>)</a:t>
            </a:r>
            <a:endParaRPr lang="en-US" sz="1500" dirty="0"/>
          </a:p>
          <a:p>
            <a:pPr marL="342900" indent="-342900">
              <a:lnSpc>
                <a:spcPct val="200000"/>
              </a:lnSpc>
              <a:buFont typeface="Wingdings" panose="05000000000000000000" pitchFamily="2" charset="2"/>
              <a:buChar char="§"/>
              <a:defRPr sz="2000"/>
            </a:pPr>
            <a:r>
              <a:rPr lang="en-US" dirty="0"/>
              <a:t>Questions(</a:t>
            </a:r>
            <a:r>
              <a:rPr lang="en-IN" sz="1600" dirty="0"/>
              <a:t>id, </a:t>
            </a:r>
            <a:r>
              <a:rPr lang="en-IN" sz="1600" dirty="0" err="1"/>
              <a:t>exam_id</a:t>
            </a:r>
            <a:r>
              <a:rPr lang="en-IN" sz="1600" dirty="0"/>
              <a:t>, </a:t>
            </a:r>
            <a:r>
              <a:rPr lang="en-IN" sz="1600" dirty="0" err="1"/>
              <a:t>question_type</a:t>
            </a:r>
            <a:r>
              <a:rPr lang="en-IN" sz="1600" dirty="0"/>
              <a:t> ,</a:t>
            </a:r>
            <a:r>
              <a:rPr lang="en-IN" sz="1600" dirty="0" err="1"/>
              <a:t>question_text</a:t>
            </a:r>
            <a:r>
              <a:rPr lang="en-IN" sz="1600" dirty="0"/>
              <a:t>, </a:t>
            </a:r>
            <a:r>
              <a:rPr lang="en-IN" sz="1600" dirty="0" err="1"/>
              <a:t>option_a</a:t>
            </a:r>
            <a:r>
              <a:rPr lang="en-IN" sz="1600" dirty="0"/>
              <a:t>-d, </a:t>
            </a:r>
            <a:r>
              <a:rPr lang="en-IN" sz="1600" dirty="0" err="1"/>
              <a:t>correct_option</a:t>
            </a:r>
            <a:r>
              <a:rPr lang="en-IN" sz="1600" dirty="0"/>
              <a:t>, </a:t>
            </a:r>
            <a:r>
              <a:rPr lang="en-IN" sz="1600" dirty="0" err="1"/>
              <a:t>correct_text</a:t>
            </a:r>
            <a:r>
              <a:rPr lang="en-IN" sz="1600" dirty="0"/>
              <a:t>, marks</a:t>
            </a:r>
            <a:r>
              <a:rPr lang="en-US" dirty="0"/>
              <a:t>)</a:t>
            </a:r>
          </a:p>
          <a:p>
            <a:pPr marL="342900" indent="-342900">
              <a:lnSpc>
                <a:spcPct val="200000"/>
              </a:lnSpc>
              <a:buFont typeface="Wingdings" panose="05000000000000000000" pitchFamily="2" charset="2"/>
              <a:buChar char="§"/>
              <a:defRPr sz="2000"/>
            </a:pPr>
            <a:r>
              <a:rPr lang="en-US" dirty="0" err="1"/>
              <a:t>Student_answers</a:t>
            </a:r>
            <a:r>
              <a:rPr lang="en-US" dirty="0"/>
              <a:t>(</a:t>
            </a:r>
            <a:r>
              <a:rPr lang="en-IN" sz="1600" dirty="0"/>
              <a:t>id, </a:t>
            </a:r>
            <a:r>
              <a:rPr lang="en-IN" sz="1600" dirty="0" err="1"/>
              <a:t>student_id</a:t>
            </a:r>
            <a:r>
              <a:rPr lang="en-IN" sz="1600" dirty="0"/>
              <a:t>, </a:t>
            </a:r>
            <a:r>
              <a:rPr lang="en-IN" sz="1600" dirty="0" err="1"/>
              <a:t>exam_id</a:t>
            </a:r>
            <a:r>
              <a:rPr lang="en-IN" sz="1600" dirty="0"/>
              <a:t>, </a:t>
            </a:r>
            <a:r>
              <a:rPr lang="en-IN" sz="1600" dirty="0" err="1"/>
              <a:t>question_id</a:t>
            </a:r>
            <a:r>
              <a:rPr lang="en-IN" sz="1600" dirty="0"/>
              <a:t>, </a:t>
            </a:r>
            <a:r>
              <a:rPr lang="en-IN" sz="1600" dirty="0" err="1"/>
              <a:t>selected_option</a:t>
            </a:r>
            <a:r>
              <a:rPr lang="en-IN" sz="1600" dirty="0"/>
              <a:t>, </a:t>
            </a:r>
            <a:r>
              <a:rPr lang="en-IN" sz="1600" dirty="0" err="1"/>
              <a:t>attempt_number</a:t>
            </a:r>
            <a:r>
              <a:rPr lang="en-US" dirty="0"/>
              <a:t>)</a:t>
            </a:r>
          </a:p>
          <a:p>
            <a:pPr marL="342900" indent="-342900">
              <a:lnSpc>
                <a:spcPct val="200000"/>
              </a:lnSpc>
              <a:buFont typeface="Wingdings" panose="05000000000000000000" pitchFamily="2" charset="2"/>
              <a:buChar char="§"/>
              <a:defRPr sz="2000"/>
            </a:pPr>
            <a:r>
              <a:rPr lang="en-US" dirty="0"/>
              <a:t>Results(</a:t>
            </a:r>
            <a:r>
              <a:rPr lang="en-IN" sz="1600" dirty="0"/>
              <a:t>id, </a:t>
            </a:r>
            <a:r>
              <a:rPr lang="en-IN" sz="1600" dirty="0" err="1"/>
              <a:t>student_id</a:t>
            </a:r>
            <a:r>
              <a:rPr lang="en-IN" sz="1600" dirty="0"/>
              <a:t>, </a:t>
            </a:r>
            <a:r>
              <a:rPr lang="en-IN" sz="1600" dirty="0" err="1"/>
              <a:t>exam_id</a:t>
            </a:r>
            <a:r>
              <a:rPr lang="en-IN" sz="1600" dirty="0"/>
              <a:t>, score, percentage, passed, </a:t>
            </a:r>
            <a:r>
              <a:rPr lang="en-IN" sz="1600" dirty="0" err="1"/>
              <a:t>submitted_at</a:t>
            </a:r>
            <a:r>
              <a:rPr lang="en-IN" sz="1600" dirty="0"/>
              <a:t>, </a:t>
            </a:r>
            <a:r>
              <a:rPr lang="en-IN" sz="1600" dirty="0" err="1"/>
              <a:t>tab_switch_count</a:t>
            </a:r>
            <a:r>
              <a:rPr lang="en-IN" sz="1600" dirty="0"/>
              <a:t>, </a:t>
            </a:r>
            <a:r>
              <a:rPr lang="en-IN" sz="1600" dirty="0" err="1"/>
              <a:t>auto_submitted</a:t>
            </a:r>
            <a:r>
              <a:rPr lang="en-IN" sz="1600" dirty="0"/>
              <a:t>, </a:t>
            </a:r>
            <a:r>
              <a:rPr lang="en-IN" sz="1600" dirty="0" err="1"/>
              <a:t>attempt_number</a:t>
            </a:r>
            <a:r>
              <a:rPr lang="en-US" dirty="0"/>
              <a:t>)</a:t>
            </a:r>
          </a:p>
        </p:txBody>
      </p:sp>
      <p:sp>
        <p:nvSpPr>
          <p:cNvPr id="4" name="Slide Number Placeholder 3">
            <a:extLst>
              <a:ext uri="{FF2B5EF4-FFF2-40B4-BE49-F238E27FC236}">
                <a16:creationId xmlns:a16="http://schemas.microsoft.com/office/drawing/2014/main" id="{CAAF511D-B859-FB4D-BA90-13EFF0544ED2}"/>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888464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CCC40-CA3E-46E3-5845-E20D4D75DF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4380E-C79D-6BB8-0EC7-78CAF6C107A6}"/>
              </a:ext>
            </a:extLst>
          </p:cNvPr>
          <p:cNvSpPr>
            <a:spLocks noGrp="1"/>
          </p:cNvSpPr>
          <p:nvPr>
            <p:ph type="title"/>
          </p:nvPr>
        </p:nvSpPr>
        <p:spPr>
          <a:xfrm>
            <a:off x="845574" y="182285"/>
            <a:ext cx="8062452" cy="850102"/>
          </a:xfrm>
        </p:spPr>
        <p:txBody>
          <a:bodyPr/>
          <a:lstStyle/>
          <a:p>
            <a:pPr>
              <a:defRPr sz="2800" b="1">
                <a:solidFill>
                  <a:srgbClr val="003366"/>
                </a:solidFill>
              </a:defRPr>
            </a:pPr>
            <a:r>
              <a:rPr lang="en-IN" sz="2800" dirty="0"/>
              <a:t>Security Features Implemented</a:t>
            </a:r>
            <a:endParaRPr lang="en-IN" sz="3200" dirty="0"/>
          </a:p>
        </p:txBody>
      </p:sp>
      <p:sp>
        <p:nvSpPr>
          <p:cNvPr id="3" name="Content Placeholder 2">
            <a:extLst>
              <a:ext uri="{FF2B5EF4-FFF2-40B4-BE49-F238E27FC236}">
                <a16:creationId xmlns:a16="http://schemas.microsoft.com/office/drawing/2014/main" id="{09862D1C-5E12-7868-A219-D24F97608E51}"/>
              </a:ext>
            </a:extLst>
          </p:cNvPr>
          <p:cNvSpPr>
            <a:spLocks noGrp="1"/>
          </p:cNvSpPr>
          <p:nvPr>
            <p:ph idx="1"/>
          </p:nvPr>
        </p:nvSpPr>
        <p:spPr>
          <a:xfrm>
            <a:off x="845573" y="1435510"/>
            <a:ext cx="5761704" cy="4906297"/>
          </a:xfrm>
        </p:spPr>
        <p:txBody>
          <a:bodyPr>
            <a:normAutofit/>
          </a:bodyPr>
          <a:lstStyle/>
          <a:p>
            <a:pPr marL="342900" indent="-342900">
              <a:buFont typeface="Arial" panose="020B0604020202020204" pitchFamily="34" charset="0"/>
              <a:buChar char="•"/>
              <a:defRPr sz="2000"/>
            </a:pPr>
            <a:r>
              <a:rPr lang="en-US" dirty="0"/>
              <a:t>Password hashing</a:t>
            </a:r>
          </a:p>
          <a:p>
            <a:pPr marL="342900" indent="-342900">
              <a:buFont typeface="Arial" panose="020B0604020202020204" pitchFamily="34" charset="0"/>
              <a:buChar char="•"/>
              <a:defRPr sz="2000"/>
            </a:pPr>
            <a:r>
              <a:rPr lang="en-US" dirty="0"/>
              <a:t>CSRF</a:t>
            </a:r>
            <a:r>
              <a:rPr lang="en-IN" dirty="0"/>
              <a:t>(Cross-Site Request Forgery) Protection</a:t>
            </a:r>
            <a:endParaRPr lang="en-US" dirty="0"/>
          </a:p>
          <a:p>
            <a:pPr marL="342900" indent="-342900">
              <a:buFont typeface="Arial" panose="020B0604020202020204" pitchFamily="34" charset="0"/>
              <a:buChar char="•"/>
              <a:defRPr sz="2000"/>
            </a:pPr>
            <a:r>
              <a:rPr lang="en-US" dirty="0"/>
              <a:t>Rate limiting</a:t>
            </a:r>
          </a:p>
          <a:p>
            <a:pPr marL="342900" indent="-342900">
              <a:buFont typeface="Arial" panose="020B0604020202020204" pitchFamily="34" charset="0"/>
              <a:buChar char="•"/>
              <a:defRPr sz="2000"/>
            </a:pPr>
            <a:r>
              <a:rPr lang="en-US" dirty="0"/>
              <a:t>Secure sessions</a:t>
            </a:r>
          </a:p>
          <a:p>
            <a:pPr marL="342900" indent="-342900">
              <a:buFont typeface="Arial" panose="020B0604020202020204" pitchFamily="34" charset="0"/>
              <a:buChar char="•"/>
              <a:defRPr sz="2000"/>
            </a:pPr>
            <a:r>
              <a:rPr lang="en-US" dirty="0"/>
              <a:t>Role-based access</a:t>
            </a:r>
          </a:p>
          <a:p>
            <a:pPr marL="342900" indent="-342900">
              <a:buFont typeface="Arial" panose="020B0604020202020204" pitchFamily="34" charset="0"/>
              <a:buChar char="•"/>
              <a:defRPr sz="2000"/>
            </a:pPr>
            <a:r>
              <a:rPr lang="en-US" dirty="0"/>
              <a:t>Security headers(</a:t>
            </a:r>
            <a:r>
              <a:rPr lang="en-IN" dirty="0"/>
              <a:t>Content Security Policy </a:t>
            </a:r>
            <a:r>
              <a:rPr lang="en-US" dirty="0"/>
              <a:t>)</a:t>
            </a:r>
          </a:p>
          <a:p>
            <a:pPr marL="342900" indent="-342900">
              <a:buFont typeface="Arial" panose="020B0604020202020204" pitchFamily="34" charset="0"/>
              <a:buChar char="•"/>
              <a:defRPr sz="2000"/>
            </a:pPr>
            <a:r>
              <a:rPr lang="en-US" dirty="0"/>
              <a:t>Anti-cheating</a:t>
            </a:r>
          </a:p>
        </p:txBody>
      </p:sp>
      <p:sp>
        <p:nvSpPr>
          <p:cNvPr id="4" name="Slide Number Placeholder 3">
            <a:extLst>
              <a:ext uri="{FF2B5EF4-FFF2-40B4-BE49-F238E27FC236}">
                <a16:creationId xmlns:a16="http://schemas.microsoft.com/office/drawing/2014/main" id="{FE936463-E245-E93C-7354-725B3BFFCE96}"/>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2020813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4F98B-7A79-A1DB-0E64-8B2677454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62A7F-0D9F-3BA3-15C8-409DF56E45C2}"/>
              </a:ext>
            </a:extLst>
          </p:cNvPr>
          <p:cNvSpPr>
            <a:spLocks noGrp="1"/>
          </p:cNvSpPr>
          <p:nvPr>
            <p:ph type="title"/>
          </p:nvPr>
        </p:nvSpPr>
        <p:spPr>
          <a:xfrm>
            <a:off x="845574" y="182285"/>
            <a:ext cx="8062452" cy="850102"/>
          </a:xfrm>
        </p:spPr>
        <p:txBody>
          <a:bodyPr/>
          <a:lstStyle/>
          <a:p>
            <a:pPr>
              <a:defRPr sz="2800" b="1">
                <a:solidFill>
                  <a:srgbClr val="003366"/>
                </a:solidFill>
              </a:defRPr>
            </a:pPr>
            <a:r>
              <a:rPr lang="en-IN" sz="2800" dirty="0"/>
              <a:t>Advantages</a:t>
            </a:r>
            <a:endParaRPr lang="en-IN" sz="3200" dirty="0"/>
          </a:p>
        </p:txBody>
      </p:sp>
      <p:sp>
        <p:nvSpPr>
          <p:cNvPr id="3" name="Content Placeholder 2">
            <a:extLst>
              <a:ext uri="{FF2B5EF4-FFF2-40B4-BE49-F238E27FC236}">
                <a16:creationId xmlns:a16="http://schemas.microsoft.com/office/drawing/2014/main" id="{F4236C5C-70F6-A853-70F6-EB4C022BFB81}"/>
              </a:ext>
            </a:extLst>
          </p:cNvPr>
          <p:cNvSpPr>
            <a:spLocks noGrp="1"/>
          </p:cNvSpPr>
          <p:nvPr>
            <p:ph idx="1"/>
          </p:nvPr>
        </p:nvSpPr>
        <p:spPr>
          <a:xfrm>
            <a:off x="845574" y="1297858"/>
            <a:ext cx="5397911" cy="4906297"/>
          </a:xfrm>
        </p:spPr>
        <p:txBody>
          <a:bodyPr>
            <a:normAutofit/>
          </a:bodyPr>
          <a:lstStyle/>
          <a:p>
            <a:pPr marL="342900" indent="-342900">
              <a:buFont typeface="Arial" panose="020B0604020202020204" pitchFamily="34" charset="0"/>
              <a:buChar char="•"/>
              <a:defRPr sz="2000"/>
            </a:pPr>
            <a:r>
              <a:rPr lang="en-IN" dirty="0"/>
              <a:t>Cloud Hosted </a:t>
            </a:r>
          </a:p>
          <a:p>
            <a:pPr marL="342900" indent="-342900">
              <a:buFont typeface="Arial" panose="020B0604020202020204" pitchFamily="34" charset="0"/>
              <a:buChar char="•"/>
              <a:defRPr sz="2000"/>
            </a:pPr>
            <a:r>
              <a:rPr lang="en-IN" dirty="0"/>
              <a:t>Automatic Evaluation </a:t>
            </a:r>
          </a:p>
          <a:p>
            <a:pPr marL="342900" indent="-342900">
              <a:buFont typeface="Arial" panose="020B0604020202020204" pitchFamily="34" charset="0"/>
              <a:buChar char="•"/>
              <a:defRPr sz="2000"/>
            </a:pPr>
            <a:r>
              <a:rPr lang="en-IN" dirty="0"/>
              <a:t>Centralized Database </a:t>
            </a:r>
          </a:p>
          <a:p>
            <a:pPr marL="342900" indent="-342900">
              <a:buFont typeface="Arial" panose="020B0604020202020204" pitchFamily="34" charset="0"/>
              <a:buChar char="•"/>
              <a:defRPr sz="2000"/>
            </a:pPr>
            <a:r>
              <a:rPr lang="en-IN" dirty="0"/>
              <a:t>Responsive Design </a:t>
            </a:r>
          </a:p>
          <a:p>
            <a:pPr marL="342900" indent="-342900">
              <a:buFont typeface="Arial" panose="020B0604020202020204" pitchFamily="34" charset="0"/>
              <a:buChar char="•"/>
              <a:defRPr sz="2000"/>
            </a:pPr>
            <a:r>
              <a:rPr lang="en-IN" dirty="0"/>
              <a:t>Secure Authentication </a:t>
            </a:r>
          </a:p>
          <a:p>
            <a:pPr marL="342900" indent="-342900">
              <a:buFont typeface="Arial" panose="020B0604020202020204" pitchFamily="34" charset="0"/>
              <a:buChar char="•"/>
              <a:defRPr sz="2000"/>
            </a:pPr>
            <a:r>
              <a:rPr lang="en-IN" dirty="0"/>
              <a:t>Accessible Anywhere </a:t>
            </a:r>
          </a:p>
          <a:p>
            <a:pPr marL="342900" indent="-342900">
              <a:buFont typeface="Arial" panose="020B0604020202020204" pitchFamily="34" charset="0"/>
              <a:buChar char="•"/>
              <a:defRPr sz="2000"/>
            </a:pPr>
            <a:r>
              <a:rPr lang="en-IN" dirty="0"/>
              <a:t>Flexible Exam Configuration </a:t>
            </a:r>
          </a:p>
          <a:p>
            <a:pPr marL="342900" indent="-342900">
              <a:buFont typeface="Arial" panose="020B0604020202020204" pitchFamily="34" charset="0"/>
              <a:buChar char="•"/>
              <a:defRPr sz="2000"/>
            </a:pPr>
            <a:r>
              <a:rPr lang="en-IN" dirty="0"/>
              <a:t>Actionable Analytics with Trend Tracking</a:t>
            </a:r>
            <a:endParaRPr lang="en-US" dirty="0"/>
          </a:p>
        </p:txBody>
      </p:sp>
      <p:sp>
        <p:nvSpPr>
          <p:cNvPr id="4" name="Slide Number Placeholder 3">
            <a:extLst>
              <a:ext uri="{FF2B5EF4-FFF2-40B4-BE49-F238E27FC236}">
                <a16:creationId xmlns:a16="http://schemas.microsoft.com/office/drawing/2014/main" id="{AEBE33D5-B914-4736-EDD0-04D5B41027E9}"/>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3622627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B1273-87E8-450B-3853-B7CF637F7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70300-B5F3-9267-A4C2-C918690D3094}"/>
              </a:ext>
            </a:extLst>
          </p:cNvPr>
          <p:cNvSpPr>
            <a:spLocks noGrp="1"/>
          </p:cNvSpPr>
          <p:nvPr>
            <p:ph type="title"/>
          </p:nvPr>
        </p:nvSpPr>
        <p:spPr>
          <a:xfrm>
            <a:off x="845574" y="182285"/>
            <a:ext cx="8062452" cy="850102"/>
          </a:xfrm>
        </p:spPr>
        <p:txBody>
          <a:bodyPr/>
          <a:lstStyle/>
          <a:p>
            <a:pPr>
              <a:defRPr sz="2800" b="1">
                <a:solidFill>
                  <a:srgbClr val="003366"/>
                </a:solidFill>
              </a:defRPr>
            </a:pPr>
            <a:r>
              <a:rPr lang="en-IN" sz="2800" dirty="0"/>
              <a:t>Future Enhancements</a:t>
            </a:r>
            <a:endParaRPr lang="en-IN" sz="3200" dirty="0"/>
          </a:p>
        </p:txBody>
      </p:sp>
      <p:sp>
        <p:nvSpPr>
          <p:cNvPr id="3" name="Content Placeholder 2">
            <a:extLst>
              <a:ext uri="{FF2B5EF4-FFF2-40B4-BE49-F238E27FC236}">
                <a16:creationId xmlns:a16="http://schemas.microsoft.com/office/drawing/2014/main" id="{97064E8A-C9CA-5441-C843-CAD2D19C5945}"/>
              </a:ext>
            </a:extLst>
          </p:cNvPr>
          <p:cNvSpPr>
            <a:spLocks noGrp="1"/>
          </p:cNvSpPr>
          <p:nvPr>
            <p:ph idx="1"/>
          </p:nvPr>
        </p:nvSpPr>
        <p:spPr>
          <a:xfrm>
            <a:off x="845574" y="1297858"/>
            <a:ext cx="5397911" cy="4906297"/>
          </a:xfrm>
        </p:spPr>
        <p:txBody>
          <a:bodyPr>
            <a:normAutofit/>
          </a:bodyPr>
          <a:lstStyle/>
          <a:p>
            <a:pPr marL="342900" indent="-342900">
              <a:buFont typeface="Arial" panose="020B0604020202020204" pitchFamily="34" charset="0"/>
              <a:buChar char="•"/>
              <a:defRPr sz="2000"/>
            </a:pPr>
            <a:r>
              <a:rPr lang="en-IN" dirty="0"/>
              <a:t>AI Question Generation</a:t>
            </a:r>
          </a:p>
          <a:p>
            <a:pPr marL="342900" indent="-342900">
              <a:buFont typeface="Arial" panose="020B0604020202020204" pitchFamily="34" charset="0"/>
              <a:buChar char="•"/>
              <a:defRPr sz="2000"/>
            </a:pPr>
            <a:r>
              <a:rPr lang="en-IN" dirty="0"/>
              <a:t>Excel Question Import </a:t>
            </a:r>
          </a:p>
          <a:p>
            <a:pPr marL="342900" indent="-342900">
              <a:buFont typeface="Arial" panose="020B0604020202020204" pitchFamily="34" charset="0"/>
              <a:buChar char="•"/>
              <a:defRPr sz="2000"/>
            </a:pPr>
            <a:r>
              <a:rPr lang="en-IN" dirty="0"/>
              <a:t>Question Bank </a:t>
            </a:r>
          </a:p>
          <a:p>
            <a:pPr marL="342900" indent="-342900">
              <a:buFont typeface="Arial" panose="020B0604020202020204" pitchFamily="34" charset="0"/>
              <a:buChar char="•"/>
              <a:defRPr sz="2000"/>
            </a:pPr>
            <a:r>
              <a:rPr lang="en-IN" dirty="0"/>
              <a:t>PDF Reports </a:t>
            </a:r>
          </a:p>
          <a:p>
            <a:pPr marL="342900" indent="-342900">
              <a:buFont typeface="Arial" panose="020B0604020202020204" pitchFamily="34" charset="0"/>
              <a:buChar char="•"/>
              <a:defRPr sz="2000"/>
            </a:pPr>
            <a:r>
              <a:rPr lang="en-IN" dirty="0"/>
              <a:t>Certificate Generation </a:t>
            </a:r>
          </a:p>
          <a:p>
            <a:pPr marL="342900" indent="-342900">
              <a:buFont typeface="Arial" panose="020B0604020202020204" pitchFamily="34" charset="0"/>
              <a:buChar char="•"/>
              <a:defRPr sz="2000"/>
            </a:pPr>
            <a:r>
              <a:rPr lang="en-IN" dirty="0"/>
              <a:t>Email Notifications</a:t>
            </a:r>
            <a:endParaRPr lang="en-US" dirty="0"/>
          </a:p>
        </p:txBody>
      </p:sp>
      <p:sp>
        <p:nvSpPr>
          <p:cNvPr id="4" name="Slide Number Placeholder 3">
            <a:extLst>
              <a:ext uri="{FF2B5EF4-FFF2-40B4-BE49-F238E27FC236}">
                <a16:creationId xmlns:a16="http://schemas.microsoft.com/office/drawing/2014/main" id="{CF4C2D5B-25A3-4E38-E951-4DC367287B30}"/>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3673821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4" y="431606"/>
            <a:ext cx="7965461" cy="625667"/>
          </a:xfrm>
        </p:spPr>
        <p:txBody>
          <a:bodyPr/>
          <a:lstStyle/>
          <a:p>
            <a:r>
              <a:rPr lang="en-IN" dirty="0"/>
              <a:t>CONCLUSION</a:t>
            </a:r>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4" y="1651335"/>
            <a:ext cx="7965460" cy="4680179"/>
          </a:xfrm>
        </p:spPr>
        <p:txBody>
          <a:bodyPr/>
          <a:lstStyle/>
          <a:p>
            <a:pPr marL="0" indent="0" algn="just">
              <a:buNone/>
              <a:defRPr sz="2000"/>
            </a:pPr>
            <a:r>
              <a:rPr lang="en-IN" dirty="0"/>
              <a:t>In conclusion, this project successfully transforms the traditional examination process into a secure cloud-based system. By deploying the application on Render and storing data in </a:t>
            </a:r>
            <a:r>
              <a:rPr lang="en-IN" dirty="0" err="1"/>
              <a:t>TiDB</a:t>
            </a:r>
            <a:r>
              <a:rPr lang="en-IN" dirty="0"/>
              <a:t> Cloud, the system becomes accessible from anywhere while ensuring centralized and reliable data management. Security features such as password hashing, CSRF protection, rate limiting, secure sessions, and anti-cheating mechanisms make the application robust. Additionally, features like multiple question types, negative marking, question shuffling, multiple attempts, and analytics enhance the flexibility and usability of the system. Overall, this project demonstrates a practical and scalable solution for modern online examinations.</a:t>
            </a:r>
            <a:endParaRPr lang="en-US" dirty="0"/>
          </a:p>
          <a:p>
            <a:pPr marL="0" indent="0" algn="just">
              <a:buNone/>
              <a:defRPr sz="2000"/>
            </a:pPr>
            <a:endParaRPr lang="en-US" dirty="0"/>
          </a:p>
        </p:txBody>
      </p:sp>
    </p:spTree>
    <p:extLst>
      <p:ext uri="{BB962C8B-B14F-4D97-AF65-F5344CB8AC3E}">
        <p14:creationId xmlns:p14="http://schemas.microsoft.com/office/powerpoint/2010/main" val="685681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2652977"/>
            <a:ext cx="5715000" cy="1552046"/>
          </a:xfrm>
        </p:spPr>
        <p:txBody>
          <a:bodyPr/>
          <a:lstStyle/>
          <a:p>
            <a:r>
              <a:rPr lang="en-US" dirty="0"/>
              <a:t>Thank you</a:t>
            </a:r>
            <a:br>
              <a:rPr lang="en-US" dirty="0"/>
            </a:br>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{F4087A4F-35A3-4825-B56C-11F42660FC14}TF8a9b5915-b8c7-461e-8cdd-693d48b5e32371f7b7e2_win32-4bf0b9a2ea37</Template>
  <TotalTime>385</TotalTime>
  <Words>636</Words>
  <Application>Microsoft Office PowerPoint</Application>
  <PresentationFormat>Widescreen</PresentationFormat>
  <Paragraphs>128</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Black</vt:lpstr>
      <vt:lpstr>Calibri</vt:lpstr>
      <vt:lpstr>Sabon Next LT</vt:lpstr>
      <vt:lpstr>Wingdings</vt:lpstr>
      <vt:lpstr>Custom</vt:lpstr>
      <vt:lpstr>Cloud-Based Online Examination System  Presented by k.Varshini 23331A1262 IT-A</vt:lpstr>
      <vt:lpstr>Problem statement</vt:lpstr>
      <vt:lpstr>Objectives</vt:lpstr>
      <vt:lpstr>Technology used</vt:lpstr>
      <vt:lpstr>Technology used</vt:lpstr>
      <vt:lpstr>Technology used</vt:lpstr>
      <vt:lpstr>Technology used</vt:lpstr>
      <vt:lpstr>Workflow</vt:lpstr>
      <vt:lpstr>Workflow</vt:lpstr>
      <vt:lpstr>Workflow</vt:lpstr>
      <vt:lpstr>Database</vt:lpstr>
      <vt:lpstr>Security Features Implemented</vt:lpstr>
      <vt:lpstr>Advantages</vt:lpstr>
      <vt:lpstr>Future Enhancements</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Varshini Kavisetti</dc:creator>
  <cp:lastModifiedBy>Varshini Kavisetti</cp:lastModifiedBy>
  <cp:revision>6</cp:revision>
  <dcterms:created xsi:type="dcterms:W3CDTF">2026-07-08T12:47:48Z</dcterms:created>
  <dcterms:modified xsi:type="dcterms:W3CDTF">2026-07-10T04:24:23Z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